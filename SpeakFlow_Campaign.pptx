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377440"/>
            <a:ext cx="36576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777240"/>
            <a:ext cx="1005840" cy="10058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</a:rPr>
              <a:t>SpeakFlow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200" b="0" i="0">
                <a:solidFill>
                  <a:srgbClr val="C4B5FD"/>
                </a:solidFill>
              </a:rPr>
              <a:t>Lead Generation — תוכנית קמפיין ממומן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11880"/>
            <a:ext cx="320040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63931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700" b="1" i="0">
                <a:solidFill>
                  <a:srgbClr val="1E1B4B"/>
                </a:solidFill>
              </a:rPr>
              <a:t>מוכן לפרסום 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80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94A3B8"/>
                </a:solidFill>
              </a:rPr>
              <a:t>Meta (Facebook &amp; Instagram)  |  איסוף לידים  |  ₪2,000/חודש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i="0">
                <a:solidFill>
                  <a:srgbClr val="FFFFFF"/>
                </a:solidFill>
              </a:rPr>
              <a:t>על העסק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4747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FD"/>
                </a:solidFill>
              </a:rPr>
              <a:t>Slide 2 / 8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5486400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4475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5B21B6"/>
                </a:solidFill>
              </a:rPr>
              <a:t>SpeakFlow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29968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E1B4B"/>
                </a:solidFill>
              </a:rPr>
              <a:t>אפליקציית AI לתרגול שיחות אנגלית בזמן אמת.</a:t>
            </a:r>
          </a:p>
          <a:p>
            <a:pPr algn="r" rtl="1"/>
            <a:r>
              <a:rPr sz="1400" b="0">
                <a:solidFill>
                  <a:srgbClr val="1E1B4B"/>
                </a:solidFill>
              </a:rPr>
              <a:t/>
            </a:r>
          </a:p>
          <a:p>
            <a:pPr algn="r" rtl="1"/>
            <a:r>
              <a:rPr sz="1400" b="0">
                <a:solidFill>
                  <a:srgbClr val="556581"/>
                </a:solidFill>
              </a:rPr>
              <a:t>המוצר מאפשר לכל אחד לתרגל אנגלית דבורה עם</a:t>
            </a:r>
          </a:p>
          <a:p>
            <a:pPr algn="r" rtl="1"/>
            <a:r>
              <a:rPr sz="1400" b="0">
                <a:solidFill>
                  <a:srgbClr val="556581"/>
                </a:solidFill>
              </a:rPr>
              <a:t>פרטנר AI — ולקבל משוב אישי על כל משפט.</a:t>
            </a:r>
          </a:p>
          <a:p>
            <a:pPr algn="r" rtl="1"/>
            <a:r>
              <a:rPr sz="1400" b="0">
                <a:solidFill>
                  <a:srgbClr val="1E1B4B"/>
                </a:solidFill>
              </a:rPr>
              <a:t/>
            </a:r>
          </a:p>
          <a:p>
            <a:pPr algn="r" rtl="1"/>
            <a:r>
              <a:rPr sz="1400" b="1">
                <a:solidFill>
                  <a:srgbClr val="1E1B4B"/>
                </a:solidFill>
              </a:rPr>
              <a:t>הבעיה שפתרנו:</a:t>
            </a:r>
          </a:p>
          <a:p>
            <a:pPr algn="r" rtl="1"/>
            <a:r>
              <a:rPr sz="1400" b="0">
                <a:solidFill>
                  <a:srgbClr val="556581"/>
                </a:solidFill>
              </a:rPr>
              <a:t>מיליוני אנשים מבינים אנגלית אך מתקפאים</a:t>
            </a:r>
          </a:p>
          <a:p>
            <a:pPr algn="r" rtl="1"/>
            <a:r>
              <a:rPr sz="1400" b="0">
                <a:solidFill>
                  <a:srgbClr val="556581"/>
                </a:solidFill>
              </a:rPr>
              <a:t>כשצריך לדבר. הסיבה: חוסר תרגול, לא חוסר ידע.</a:t>
            </a:r>
          </a:p>
          <a:p>
            <a:pPr algn="r" rtl="1"/>
            <a:r>
              <a:rPr sz="1400" b="0">
                <a:solidFill>
                  <a:srgbClr val="1E1B4B"/>
                </a:solidFill>
              </a:rPr>
              <a:t/>
            </a:r>
          </a:p>
          <a:p>
            <a:pPr algn="r" rtl="1"/>
            <a:r>
              <a:rPr sz="1400" b="1">
                <a:solidFill>
                  <a:srgbClr val="1E1B4B"/>
                </a:solidFill>
              </a:rPr>
              <a:t>הפתרון:</a:t>
            </a:r>
          </a:p>
          <a:p>
            <a:pPr algn="r" rtl="1"/>
            <a:r>
              <a:rPr sz="1400" b="0">
                <a:solidFill>
                  <a:srgbClr val="556581"/>
                </a:solidFill>
              </a:rPr>
              <a:t>שיחות AI זמינות 24/7, בלי שיפוט, בלי בושה.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280160"/>
            <a:ext cx="576072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38988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5B21B6"/>
                </a:solidFill>
              </a:rPr>
              <a:t>3M+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627631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556581"/>
                </a:solidFill>
              </a:rPr>
              <a:t>דוברי עברית הלומדים אנגלית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3063239"/>
            <a:ext cx="576072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317296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59E0B"/>
                </a:solidFill>
              </a:rPr>
              <a:t>67%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410711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556581"/>
                </a:solidFill>
              </a:rPr>
              <a:t>מדווחים על פחד לדבר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4846320"/>
            <a:ext cx="576072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49560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59669"/>
                </a:solidFill>
              </a:rPr>
              <a:t>24/7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519379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556581"/>
                </a:solidFill>
              </a:rPr>
              <a:t>זמינות AI לתרגול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i="0">
                <a:solidFill>
                  <a:srgbClr val="FFFFFF"/>
                </a:solidFill>
              </a:rPr>
              <a:t>מטרת הקמפיין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4747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FD"/>
                </a:solidFill>
              </a:rPr>
              <a:t>Slide 3 / 8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11567160" cy="914400"/>
          </a:xfrm>
          <a:prstGeom prst="rect">
            <a:avLst/>
          </a:prstGeom>
          <a:solidFill>
            <a:srgbClr val="EEE9FF"/>
          </a:solidFill>
          <a:ln w="19050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8988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5B21B6"/>
                </a:solidFill>
              </a:rPr>
              <a:t>לבנות רשימת המתנה של 500+ לידים תוך 30 יום — ולאמת ביקוש לפני השקה מלאה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377440"/>
            <a:ext cx="3749039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2377440"/>
            <a:ext cx="3749039" cy="4572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95728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i="0">
                <a:solidFill>
                  <a:srgbClr val="FFFFFF"/>
                </a:solidFill>
              </a:rPr>
              <a:t>סוג קמפיין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44368"/>
            <a:ext cx="3474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556581"/>
                </a:solidFill>
              </a:rPr>
              <a:t>Lead Generation
טופס לידים ילידי Meta
(Facebook Lead Ad)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2377440"/>
            <a:ext cx="3749039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2377440"/>
            <a:ext cx="3749039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395728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i="0">
                <a:solidFill>
                  <a:srgbClr val="FFFFFF"/>
                </a:solidFill>
              </a:rPr>
              <a:t>פלטפורמה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944368"/>
            <a:ext cx="3474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556581"/>
                </a:solidFill>
              </a:rPr>
              <a:t>Facebook + Instagram
פידים, Stories, Reels
מיקוד לפי תחומי עניין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19" y="2377440"/>
            <a:ext cx="3749039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19" y="2377440"/>
            <a:ext cx="3749039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395728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i="0">
                <a:solidFill>
                  <a:srgbClr val="FFFFFF"/>
                </a:solidFill>
              </a:rPr>
              <a:t>תקציב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944368"/>
            <a:ext cx="3474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556581"/>
                </a:solidFill>
              </a:rPr>
              <a:t>₪2,000 לחודש
כ-₪66 ליום
CPL יעד: ₪15-₪25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i="0">
                <a:solidFill>
                  <a:srgbClr val="FFFFFF"/>
                </a:solidFill>
              </a:rPr>
              <a:t>קהל יעד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4747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FD"/>
                </a:solidFill>
              </a:rPr>
              <a:t>Slide 4 / 8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5212080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4475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5B21B6"/>
                </a:solidFill>
              </a:rPr>
              <a:t>הפרסונה המרכזית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93392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E1B4B"/>
                </a:solidFill>
              </a:rPr>
              <a:t>גיל: 22-40</a:t>
            </a:r>
          </a:p>
          <a:p>
            <a:pPr algn="r" rtl="1"/>
            <a:r>
              <a:rPr sz="1400" b="0">
                <a:solidFill>
                  <a:srgbClr val="556581"/>
                </a:solidFill>
              </a:rPr>
              <a:t>סטודנטים, אנשי הייטק, מחפשי עבודה</a:t>
            </a:r>
          </a:p>
          <a:p>
            <a:pPr algn="r" rtl="1"/>
            <a:r>
              <a:rPr sz="1400" b="0">
                <a:solidFill>
                  <a:srgbClr val="556581"/>
                </a:solidFill>
              </a:rPr>
              <a:t/>
            </a:r>
          </a:p>
          <a:p>
            <a:pPr algn="r" rtl="1"/>
            <a:r>
              <a:rPr sz="1400" b="1">
                <a:solidFill>
                  <a:srgbClr val="1E1B4B"/>
                </a:solidFill>
              </a:rPr>
              <a:t>דמוגרפיה:</a:t>
            </a:r>
          </a:p>
          <a:p>
            <a:pPr algn="r" rtl="1"/>
            <a:r>
              <a:rPr sz="1400" b="0">
                <a:solidFill>
                  <a:srgbClr val="556581"/>
                </a:solidFill>
              </a:rPr>
              <a:t>גילאי 18-45, ישראל</a:t>
            </a:r>
          </a:p>
          <a:p>
            <a:pPr algn="r" rtl="1"/>
            <a:r>
              <a:rPr sz="1400" b="0">
                <a:solidFill>
                  <a:srgbClr val="556581"/>
                </a:solidFill>
              </a:rPr>
              <a:t>השכלה גבוהה / כוונה לשוק עבודה גלובלי</a:t>
            </a:r>
          </a:p>
          <a:p>
            <a:pPr algn="r" rtl="1"/>
            <a:r>
              <a:rPr sz="1400" b="0">
                <a:solidFill>
                  <a:srgbClr val="556581"/>
                </a:solidFill>
              </a:rPr>
              <a:t/>
            </a:r>
          </a:p>
          <a:p>
            <a:pPr algn="r" rtl="1"/>
            <a:r>
              <a:rPr sz="1400" b="1">
                <a:solidFill>
                  <a:srgbClr val="1E1B4B"/>
                </a:solidFill>
              </a:rPr>
              <a:t>תחומי עניין (Targeting):</a:t>
            </a:r>
          </a:p>
          <a:p>
            <a:pPr algn="r" rtl="1"/>
            <a:r>
              <a:rPr sz="1400" b="0">
                <a:solidFill>
                  <a:srgbClr val="556581"/>
                </a:solidFill>
              </a:rPr>
              <a:t>לימוד שפות, Duolingo, Babbel</a:t>
            </a:r>
          </a:p>
          <a:p>
            <a:pPr algn="r" rtl="1"/>
            <a:r>
              <a:rPr sz="1400" b="0">
                <a:solidFill>
                  <a:srgbClr val="556581"/>
                </a:solidFill>
              </a:rPr>
              <a:t>הייטק, פיתוח קריירה</a:t>
            </a:r>
          </a:p>
          <a:p>
            <a:pPr algn="r" rtl="1"/>
            <a:r>
              <a:rPr sz="1400" b="0">
                <a:solidFill>
                  <a:srgbClr val="556581"/>
                </a:solidFill>
              </a:rPr>
              <a:t>קורסי אנגלית עסקית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280160"/>
            <a:ext cx="6126480" cy="1600200"/>
          </a:xfrm>
          <a:prstGeom prst="rect">
            <a:avLst/>
          </a:prstGeom>
          <a:solidFill>
            <a:srgbClr val="FFE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371600"/>
            <a:ext cx="5760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i="0">
                <a:solidFill>
                  <a:srgbClr val="1E1B4B"/>
                </a:solidFill>
              </a:rPr>
              <a:t>הכאב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856231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556581"/>
                </a:solidFill>
              </a:rPr>
              <a:t>"למדתי אנגלית 10 שנים אבל נתקע בשיחה"
פחד לטעות — חוסר ביטחון בדיבור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3063239"/>
            <a:ext cx="6126480" cy="16002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3154679"/>
            <a:ext cx="5760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i="0">
                <a:solidFill>
                  <a:srgbClr val="1E1B4B"/>
                </a:solidFill>
              </a:rPr>
              <a:t>התובנה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639311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556581"/>
                </a:solidFill>
              </a:rPr>
              <a:t>הבעיה היא לא הידע — אלא חוסר תרגול
AI שמדבר איתך 24/7, בלי שיפוט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4846320"/>
            <a:ext cx="6126480" cy="1600200"/>
          </a:xfrm>
          <a:prstGeom prst="rect">
            <a:avLst/>
          </a:prstGeom>
          <a:solidFill>
            <a:srgbClr val="E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4937759"/>
            <a:ext cx="5760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i="0">
                <a:solidFill>
                  <a:srgbClr val="1E1B4B"/>
                </a:solidFill>
              </a:rPr>
              <a:t>הרצון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5422392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556581"/>
                </a:solidFill>
              </a:rPr>
              <a:t>"רוצה לדבר שוטף בעבודה"
"צריך לדבר בראיון עבודה בחו'ל"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i="0">
                <a:solidFill>
                  <a:srgbClr val="FFFFFF"/>
                </a:solidFill>
              </a:rPr>
              <a:t>קופי שיווקי — 2 מודעות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4747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FD"/>
                </a:solidFill>
              </a:rPr>
              <a:t>Slide 5 / 8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5623560" cy="5257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5623560" cy="475488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16736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FFFFFF"/>
                </a:solidFill>
              </a:rPr>
              <a:t>מודעה מס' 1  —  Pain Based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556581"/>
                </a:solidFill>
              </a:rPr>
              <a:t>כותרת: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12848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1" i="0">
                <a:solidFill>
                  <a:srgbClr val="1E1B4B"/>
                </a:solidFill>
              </a:rPr>
              <a:t>?10 שנים למדת אנגלית ועדיין קשה לך לדבר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272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556581"/>
                </a:solidFill>
              </a:rPr>
              <a:t>טקסט: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7472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1B4B"/>
                </a:solidFill>
              </a:rPr>
              <a:t>SpeakFlow AI נותנת לך פרטנר AI לשיחות אמיתיות ומשוב אישי על כל משפט. תרגל בזמן שלך, בלי שיפוט.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846320"/>
            <a:ext cx="521208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882896"/>
            <a:ext cx="5120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600" b="1" i="0">
                <a:solidFill>
                  <a:srgbClr val="1E1B4B"/>
                </a:solidFill>
              </a:rPr>
              <a:t>הצטרפו לרשימת ההמתנה  &gt;&gt;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5961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556581"/>
                </a:solidFill>
              </a:rPr>
              <a:t>פורמט: Feed / Story  |  מטרה: Lead 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280160"/>
            <a:ext cx="5623560" cy="5257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280160"/>
            <a:ext cx="5623560" cy="4754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316736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FFFFFF"/>
                </a:solidFill>
              </a:rPr>
              <a:t>מודעה מס' 2  —  Insight Based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87451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556581"/>
                </a:solidFill>
              </a:rPr>
              <a:t>כותרת: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12848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1" i="0">
                <a:solidFill>
                  <a:srgbClr val="1E1B4B"/>
                </a:solidFill>
              </a:rPr>
              <a:t>?מדבר אנגלית בראש — אבל לא מצליח להוציא מילה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272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556581"/>
                </a:solidFill>
              </a:rPr>
              <a:t>טקסט: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47472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1B4B"/>
                </a:solidFill>
              </a:rPr>
              <a:t>הבעיה היא לא הידע — אלא חוסר תרגול. SpeakFlow AI היא פרטנר שיחה שזמין 24/7, סבלני, ולא שופט.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4846320"/>
            <a:ext cx="5212080" cy="5943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882896"/>
            <a:ext cx="5120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600" b="1" i="0">
                <a:solidFill>
                  <a:srgbClr val="FFFFFF"/>
                </a:solidFill>
              </a:rPr>
              <a:t>קבל גישה מוקדמת — בחינם  &gt;&gt;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5961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0">
                <a:solidFill>
                  <a:srgbClr val="556581"/>
                </a:solidFill>
              </a:rPr>
              <a:t>פורמט: Reel / Story  |  מטרה: Lead 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i="0">
                <a:solidFill>
                  <a:srgbClr val="FFFFFF"/>
                </a:solidFill>
              </a:rPr>
              <a:t>קריאייטיב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4747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FD"/>
                </a:solidFill>
              </a:rPr>
              <a:t>Slide 6 / 8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3749039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3749039" cy="475488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9304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</a:rPr>
              <a:t>תמונה סטטית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3383280" cy="502920"/>
          </a:xfrm>
          <a:prstGeom prst="rect">
            <a:avLst/>
          </a:prstGeom>
          <a:solidFill>
            <a:srgbClr val="E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019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B21B6"/>
                </a:solidFill>
              </a:rPr>
              <a:t>Feed — Facebook / Instagram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1460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556581"/>
                </a:solidFill>
              </a:rPr>
              <a:t>רקע סגול כהה
אייקון מיקרופון + AI
טקסט: '10 שנים למדת...'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261872"/>
            <a:ext cx="3749039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261872"/>
            <a:ext cx="3749039" cy="4754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89304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</a:rPr>
              <a:t>Reel / ויידאו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59" y="1874519"/>
            <a:ext cx="3383280" cy="502920"/>
          </a:xfrm>
          <a:prstGeom prst="rect">
            <a:avLst/>
          </a:prstGeom>
          <a:solidFill>
            <a:srgbClr val="E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19019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B5CF6"/>
                </a:solidFill>
              </a:rPr>
              <a:t>Stories / Reels — 15-30 שנ'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51460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556581"/>
                </a:solidFill>
              </a:rPr>
              <a:t>אדם מדבר בביטחון
Before &amp; After
כתוביות אוטומטיות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19" y="1261872"/>
            <a:ext cx="3749039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19" y="1261872"/>
            <a:ext cx="3749039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289304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</a:rPr>
              <a:t>טופס ליד ילידי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199" y="1874519"/>
            <a:ext cx="3383280" cy="502920"/>
          </a:xfrm>
          <a:prstGeom prst="rect">
            <a:avLst/>
          </a:prstGeom>
          <a:solidFill>
            <a:srgbClr val="E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19" y="19019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</a:rPr>
              <a:t>Meta Lead 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199" y="251460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556581"/>
                </a:solidFill>
              </a:rPr>
              <a:t>שם + אימייל
+ שאלת כוונות
CTA: קבל גישה מוקדמת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i="0">
                <a:solidFill>
                  <a:srgbClr val="FFFFFF"/>
                </a:solidFill>
              </a:rPr>
              <a:t>הגדרות קמפיין — Meta Ads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4747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FD"/>
                </a:solidFill>
              </a:rPr>
              <a:t>Slide 7 / 8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27889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2788920" cy="4114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9844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FFFFFF"/>
                </a:solidFill>
              </a:rPr>
              <a:t>גאוגרפיה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792224"/>
            <a:ext cx="2606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556581"/>
                </a:solidFill>
              </a:rPr>
              <a:t>ישראל — כל הארץ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61872"/>
            <a:ext cx="27889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261872"/>
            <a:ext cx="2788920" cy="4114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29844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FFFFFF"/>
                </a:solidFill>
              </a:rPr>
              <a:t>גיל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92224"/>
            <a:ext cx="2606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556581"/>
                </a:solidFill>
              </a:rPr>
              <a:t>18-45
גברים ונשים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261872"/>
            <a:ext cx="27889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261872"/>
            <a:ext cx="2788920" cy="4114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79" y="129844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FFFFFF"/>
                </a:solidFill>
              </a:rPr>
              <a:t>תחומי עניין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1792224"/>
            <a:ext cx="2606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556581"/>
                </a:solidFill>
              </a:rPr>
              <a:t>Duolingo, לימוד שפות
הייטק, קריירה
קורסי אנגלית עסקית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261872"/>
            <a:ext cx="27889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261872"/>
            <a:ext cx="2788920" cy="4114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29844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FFFFFF"/>
                </a:solidFill>
              </a:rPr>
              <a:t>Exclusions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792224"/>
            <a:ext cx="2606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556581"/>
                </a:solidFill>
              </a:rPr>
              <a:t>לקוחות קיימים
מי שמילא טופס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867912"/>
            <a:ext cx="27889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867912"/>
            <a:ext cx="2788920" cy="4114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390448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FFFFFF"/>
                </a:solidFill>
              </a:rPr>
              <a:t>תקציב יומי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4398264"/>
            <a:ext cx="2606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556581"/>
                </a:solidFill>
              </a:rPr>
              <a:t>₪66 ליום
₪2,000 לחודש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867912"/>
            <a:ext cx="27889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91840" y="3867912"/>
            <a:ext cx="2788920" cy="4114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390448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FFFFFF"/>
                </a:solidFill>
              </a:rPr>
              <a:t>אופטימיזציה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398264"/>
            <a:ext cx="2606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556581"/>
                </a:solidFill>
              </a:rPr>
              <a:t>Leads
מחיר יעד לליד: ₪25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867912"/>
            <a:ext cx="27889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867912"/>
            <a:ext cx="2788920" cy="4114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79" y="390448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FFFFFF"/>
                </a:solidFill>
              </a:rPr>
              <a:t>A/B Testing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79" y="4398264"/>
            <a:ext cx="2606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556581"/>
                </a:solidFill>
              </a:rPr>
              <a:t>מודעה 1 vs מודעה 2
תמונה vs Reel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3867912"/>
            <a:ext cx="27889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35440" y="3867912"/>
            <a:ext cx="2788920" cy="4114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390448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FFFFFF"/>
                </a:solidFill>
              </a:rPr>
              <a:t>לוח זמנים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398264"/>
            <a:ext cx="2606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556581"/>
                </a:solidFill>
              </a:rPr>
              <a:t>30 יום ראשוניים
סקירה שבועית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 i="0">
                <a:solidFill>
                  <a:srgbClr val="FFFFFF"/>
                </a:solidFill>
              </a:rPr>
              <a:t>מדדי הצלחה —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4747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FD"/>
                </a:solidFill>
              </a:rPr>
              <a:t>Slide 8 / 8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27889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37160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5B21B6"/>
                </a:solidFill>
              </a:rPr>
              <a:t>500+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2860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1" i="0">
                <a:solidFill>
                  <a:srgbClr val="1E1B4B"/>
                </a:solidFill>
              </a:rPr>
              <a:t>לידים בחודש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7889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556581"/>
                </a:solidFill>
              </a:rPr>
              <a:t>יעד ראשוני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61872"/>
            <a:ext cx="27889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37160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59E0B"/>
                </a:solidFill>
              </a:rPr>
              <a:t>₪25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860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1" i="0">
                <a:solidFill>
                  <a:srgbClr val="1E1B4B"/>
                </a:solidFill>
              </a:rPr>
              <a:t>עלות לליד (CPL)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7889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556581"/>
                </a:solidFill>
              </a:rPr>
              <a:t>מקסימום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261872"/>
            <a:ext cx="27889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137160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59669"/>
                </a:solidFill>
              </a:rPr>
              <a:t>3%+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79" y="22860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1" i="0">
                <a:solidFill>
                  <a:srgbClr val="1E1B4B"/>
                </a:solidFill>
              </a:rPr>
              <a:t>Click-Through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27889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556581"/>
                </a:solidFill>
              </a:rPr>
              <a:t>CTR יעד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261872"/>
            <a:ext cx="27889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37160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8B5CF6"/>
                </a:solidFill>
              </a:rPr>
              <a:t>15%+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2860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1" i="0">
                <a:solidFill>
                  <a:srgbClr val="1E1B4B"/>
                </a:solidFill>
              </a:rPr>
              <a:t>Lead Conversion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7889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556581"/>
                </a:solidFill>
              </a:rPr>
              <a:t>מהקלקה לטופס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749039"/>
            <a:ext cx="11567160" cy="1371600"/>
          </a:xfrm>
          <a:prstGeom prst="rect">
            <a:avLst/>
          </a:prstGeom>
          <a:solidFill>
            <a:srgbClr val="EEE9FF"/>
          </a:solidFill>
          <a:ln w="19050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8587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5B21B6"/>
                </a:solidFill>
              </a:rPr>
              <a:t>הגדרת הצלחה: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3434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>
                <a:solidFill>
                  <a:srgbClr val="1E1B4B"/>
                </a:solidFill>
              </a:rPr>
              <a:t>500+ לידים בחודש הראשון   |   CPL מתחת ל-₪25   |   10% מהלידים ממירים לניסיון חינמי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321808"/>
            <a:ext cx="11567160" cy="1207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223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1E1B4B"/>
                </a:solidFill>
              </a:rPr>
              <a:t>השלב הבא: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422392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5B21B6"/>
                </a:solidFill>
              </a:rPr>
              <a:t>1. אישור תקציב   &gt;&gt;   2. העלאת קריאייטיב ל-Meta Ads Manager   &gt;&gt;   3. פרסום!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